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OpIUPTl5mU3UdrrwsdhQfby0A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frr</a:t>
            </a:r>
            <a:endParaRPr/>
          </a:p>
        </p:txBody>
      </p:sp>
      <p:sp>
        <p:nvSpPr>
          <p:cNvPr id="498" name="Google Shape;4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zzas sin límite de ingredientes a domicilio granada – La Vin Qué Pizza 🍕" id="103" name="Google Shape;103;p1"/>
          <p:cNvPicPr preferRelativeResize="0"/>
          <p:nvPr/>
        </p:nvPicPr>
        <p:blipFill rotWithShape="1">
          <a:blip r:embed="rId3">
            <a:alphaModFix/>
          </a:blip>
          <a:srcRect b="1" l="12682" r="10779" t="501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>
            <p:ph type="ctr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s-ES" sz="4800"/>
              <a:t>LaVinQuePizza</a:t>
            </a:r>
            <a:endParaRPr sz="4800"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477980" y="4872922"/>
            <a:ext cx="4506975" cy="155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000"/>
              <a:t>Francisco Javier Checa Casas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000"/>
              <a:t>Matthew Samuel Horne Negro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000"/>
              <a:t>Francisco Lara Santiago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000"/>
              <a:t>Alejandro Nieto Ruzek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000"/>
              <a:t>Ángel Torres López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a pizza de pepperoni" id="114" name="Google Shape;114;p2"/>
          <p:cNvPicPr preferRelativeResize="0"/>
          <p:nvPr/>
        </p:nvPicPr>
        <p:blipFill rotWithShape="1">
          <a:blip r:embed="rId3">
            <a:alphaModFix amt="40000"/>
          </a:blip>
          <a:srcRect b="13098" l="0" r="0" t="2631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>
            <p:ph type="title"/>
          </p:nvPr>
        </p:nvSpPr>
        <p:spPr>
          <a:xfrm>
            <a:off x="841249" y="941832"/>
            <a:ext cx="1050645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lang="es-ES" sz="5000"/>
              <a:t>¿Qué es LaVinQuePizza?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841248" y="3502152"/>
            <a:ext cx="10506456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Es una panadería y pizzería de Granada.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Abierta desde 2015.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Su producto más destacado es su pizza gigante de 60cm x 40cm.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6234865" y="568517"/>
            <a:ext cx="5248221" cy="106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Producto</a:t>
            </a:r>
            <a:endParaRPr/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-2" l="0" r="441" t="0"/>
          <a:stretch/>
        </p:blipFill>
        <p:spPr>
          <a:xfrm>
            <a:off x="739959" y="1095407"/>
            <a:ext cx="4754947" cy="4754947"/>
          </a:xfrm>
          <a:custGeom>
            <a:rect b="b" l="l" r="r" t="t"/>
            <a:pathLst>
              <a:path extrusionOk="0" h="2388070" w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26" name="Google Shape;126;p3"/>
          <p:cNvGrpSpPr/>
          <p:nvPr/>
        </p:nvGrpSpPr>
        <p:grpSpPr>
          <a:xfrm>
            <a:off x="0" y="377893"/>
            <a:ext cx="1861854" cy="717514"/>
            <a:chOff x="0" y="377893"/>
            <a:chExt cx="1861854" cy="717514"/>
          </a:xfrm>
        </p:grpSpPr>
        <p:sp>
          <p:nvSpPr>
            <p:cNvPr id="127" name="Google Shape;127;p3"/>
            <p:cNvSpPr/>
            <p:nvPr/>
          </p:nvSpPr>
          <p:spPr>
            <a:xfrm>
              <a:off x="0" y="377893"/>
              <a:ext cx="1861854" cy="277779"/>
            </a:xfrm>
            <a:custGeom>
              <a:rect b="b" l="l" r="r" t="t"/>
              <a:pathLst>
                <a:path extrusionOk="0" h="277779" w="1861854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0" y="817628"/>
              <a:ext cx="1861854" cy="277779"/>
            </a:xfrm>
            <a:custGeom>
              <a:rect b="b" l="l" r="r" t="t"/>
              <a:pathLst>
                <a:path extrusionOk="0" h="277779" w="1861854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6234868" y="1820369"/>
            <a:ext cx="521717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ES">
                <a:solidFill>
                  <a:schemeClr val="lt1"/>
                </a:solidFill>
              </a:rPr>
              <a:t>Introducción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s-ES">
                <a:solidFill>
                  <a:schemeClr val="lt1"/>
                </a:solidFill>
              </a:rPr>
              <a:t>Sus principales productos son las barras de pan y las pizzas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ES">
                <a:solidFill>
                  <a:schemeClr val="lt1"/>
                </a:solidFill>
              </a:rPr>
              <a:t>Decisiones sobre producto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s-ES">
                <a:solidFill>
                  <a:schemeClr val="lt1"/>
                </a:solidFill>
              </a:rPr>
              <a:t>Diferentes productos: barras de pan, bollería, pizzas, French Fries, Pulled Pork, Pizzas, Shawarmas, Hamburguesas, Ensaladas, Bocadillos, Nachos y bebidas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30" name="Google Shape;130;p3"/>
          <p:cNvGrpSpPr/>
          <p:nvPr/>
        </p:nvGrpSpPr>
        <p:grpSpPr>
          <a:xfrm>
            <a:off x="10428634" y="5987064"/>
            <a:ext cx="1054466" cy="469689"/>
            <a:chOff x="9841624" y="4115729"/>
            <a:chExt cx="602169" cy="268223"/>
          </a:xfrm>
        </p:grpSpPr>
        <p:sp>
          <p:nvSpPr>
            <p:cNvPr id="131" name="Google Shape;131;p3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>
            <p:ph type="title"/>
          </p:nvPr>
        </p:nvSpPr>
        <p:spPr>
          <a:xfrm>
            <a:off x="946521" y="396117"/>
            <a:ext cx="5217172" cy="11588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Producto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10791258" y="619275"/>
            <a:ext cx="932200" cy="932200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0791258" y="619275"/>
            <a:ext cx="932200" cy="932200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29803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946520" y="1951091"/>
            <a:ext cx="5217173" cy="414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ES">
                <a:solidFill>
                  <a:schemeClr val="lt1"/>
                </a:solidFill>
              </a:rPr>
              <a:t>Estrategias del ciclo de vida del producto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5" name="Google Shape;145;p4"/>
          <p:cNvGrpSpPr/>
          <p:nvPr/>
        </p:nvGrpSpPr>
        <p:grpSpPr>
          <a:xfrm>
            <a:off x="6491531" y="1226111"/>
            <a:ext cx="1598829" cy="531293"/>
            <a:chOff x="6491531" y="1420258"/>
            <a:chExt cx="1598829" cy="531293"/>
          </a:xfrm>
        </p:grpSpPr>
        <p:grpSp>
          <p:nvGrpSpPr>
            <p:cNvPr id="146" name="Google Shape;146;p4"/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rect b="b" l="l" r="r" t="t"/>
                <a:pathLst>
                  <a:path extrusionOk="0" h="172939" w="1598614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rect b="b" l="l" r="r" t="t"/>
                <a:pathLst>
                  <a:path extrusionOk="0" h="172724" w="1598829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4"/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rect b="b" l="l" r="r" t="t"/>
                <a:pathLst>
                  <a:path extrusionOk="0" h="172939" w="1598614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rect b="b" l="l" r="r" t="t"/>
                <a:pathLst>
                  <a:path extrusionOk="0" h="172724" w="1598829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Qué es el ciclo de vida del producto y qué estrategia seguir en cada etapa"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6219" r="2427" t="0"/>
          <a:stretch/>
        </p:blipFill>
        <p:spPr>
          <a:xfrm>
            <a:off x="1165951" y="3161780"/>
            <a:ext cx="4778309" cy="2937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4"/>
          <p:cNvGrpSpPr/>
          <p:nvPr/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</p:grpSpPr>
        <p:grpSp>
          <p:nvGrpSpPr>
            <p:cNvPr id="154" name="Google Shape;154;p4"/>
            <p:cNvGrpSpPr/>
            <p:nvPr/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</p:grpSpPr>
          <p:sp>
            <p:nvSpPr>
              <p:cNvPr id="155" name="Google Shape;155;p4"/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rect b="b" l="l" r="r" t="t"/>
                <a:pathLst>
                  <a:path extrusionOk="0" h="14097" w="14192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rect b="b" l="l" r="r" t="t"/>
                <a:pathLst>
                  <a:path extrusionOk="0" h="14097" w="14192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4"/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rect b="b" l="l" r="r" t="t"/>
                <a:pathLst>
                  <a:path extrusionOk="0" h="14097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4"/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4"/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4"/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4"/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"/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4"/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4"/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4"/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4"/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4"/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4"/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4"/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4"/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4"/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4"/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4"/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4"/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4"/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4"/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4"/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4"/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4"/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4"/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4"/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4"/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4"/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4"/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4"/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4"/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4"/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4"/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4"/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4"/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4"/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4"/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4"/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4"/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4"/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4"/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4"/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4"/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4"/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4"/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4"/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4"/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4"/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4"/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4"/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4"/>
            <p:cNvGrpSpPr/>
            <p:nvPr/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</p:grpSpPr>
          <p:sp>
            <p:nvSpPr>
              <p:cNvPr id="325" name="Google Shape;325;p4"/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rect b="b" l="l" r="r" t="t"/>
                <a:pathLst>
                  <a:path extrusionOk="0" h="14097" w="14192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4"/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4"/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4"/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4"/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4"/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4"/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4"/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rect b="b" l="l" r="r" t="t"/>
                <a:pathLst>
                  <a:path extrusionOk="0" h="14097" w="14192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4"/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4"/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4"/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4"/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4"/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4"/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4"/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4"/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4"/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4"/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4"/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4"/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4"/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4"/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4"/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4"/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4"/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4"/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4"/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4"/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4"/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4"/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4"/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4"/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4"/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4"/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4"/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4"/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rect b="b" l="l" r="r" t="t"/>
                <a:pathLst>
                  <a:path extrusionOk="0" h="14097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4"/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4"/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4"/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4"/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4"/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4"/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4"/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4"/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4"/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4"/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4"/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4"/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4"/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4"/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4"/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4"/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4"/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4"/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4"/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4"/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4"/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4"/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4"/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4"/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4"/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4"/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4"/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4"/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4"/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4"/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4"/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4"/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4"/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4"/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4"/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4"/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4"/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4"/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4"/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4"/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4"/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4"/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4"/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4"/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4"/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4"/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4"/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4"/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4"/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4"/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4"/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4"/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4"/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4"/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4"/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4"/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4"/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4"/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4"/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4"/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4"/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4"/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4"/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rect b="b" l="l" r="r" t="t"/>
                <a:pathLst>
                  <a:path extrusionOk="0" h="14097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4"/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4"/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4"/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4"/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4"/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4"/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4"/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4"/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4"/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4"/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4"/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4"/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4"/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4"/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4"/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4"/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4"/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4"/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rect b="b" l="l" r="r" t="t"/>
                <a:pathLst>
                  <a:path extrusionOk="0" h="14096" w="14192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4"/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4"/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4"/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4"/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4"/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4"/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4"/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4"/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4"/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4"/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4"/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4"/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4"/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4"/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4"/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4"/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4"/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rect b="b" l="l" r="r" t="t"/>
                <a:pathLst>
                  <a:path extrusionOk="0" h="14097" w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4"/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4"/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4"/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4"/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4"/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4"/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4"/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4"/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4"/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rect b="b" l="l" r="r" t="t"/>
                <a:pathLst>
                  <a:path extrusionOk="0" h="14096" w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4"/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4"/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4"/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4"/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4"/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4"/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rect b="b" l="l" r="r" t="t"/>
                <a:pathLst>
                  <a:path extrusionOk="0" h="14099" w="14097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4"/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4"/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4"/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rect b="b" l="l" r="r" t="t"/>
                <a:pathLst>
                  <a:path extrusionOk="0" h="14099" w="14096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4"/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rect b="b" l="l" r="r" t="t"/>
                <a:pathLst>
                  <a:path extrusionOk="0" h="14096" w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4" name="Google Shape;494;p4"/>
          <p:cNvSpPr txBox="1"/>
          <p:nvPr/>
        </p:nvSpPr>
        <p:spPr>
          <a:xfrm>
            <a:off x="8475406" y="2722873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"/>
          <p:cNvSpPr txBox="1"/>
          <p:nvPr/>
        </p:nvSpPr>
        <p:spPr>
          <a:xfrm>
            <a:off x="6007782" y="1847159"/>
            <a:ext cx="6409781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y adopción de nuevos productos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Cambios en la pizza gigante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Efecto de los líderes de opinión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 inteligencia de precios no entiende de sectores: 8 errores habituales -  Marketing 4 Ecommerce - Tu revista de marketing online para e-commerce" id="501" name="Google Shape;501;p5"/>
          <p:cNvPicPr preferRelativeResize="0"/>
          <p:nvPr/>
        </p:nvPicPr>
        <p:blipFill rotWithShape="1">
          <a:blip r:embed="rId3">
            <a:alphaModFix/>
          </a:blip>
          <a:srcRect b="9090" l="6342" r="24703" t="0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"/>
          <p:cNvSpPr/>
          <p:nvPr/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9000">
                <a:srgbClr val="000000">
                  <a:alpha val="37647"/>
                </a:srgbClr>
              </a:gs>
              <a:gs pos="35000">
                <a:srgbClr val="000000">
                  <a:alpha val="77647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"/>
          <p:cNvSpPr txBox="1"/>
          <p:nvPr>
            <p:ph type="title"/>
          </p:nvPr>
        </p:nvSpPr>
        <p:spPr>
          <a:xfrm>
            <a:off x="371094" y="1161288"/>
            <a:ext cx="3438144" cy="112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s-ES" sz="2800"/>
              <a:t>Precio</a:t>
            </a:r>
            <a:endParaRPr/>
          </a:p>
        </p:txBody>
      </p:sp>
      <p:sp>
        <p:nvSpPr>
          <p:cNvPr id="504" name="Google Shape;504;p5"/>
          <p:cNvSpPr/>
          <p:nvPr/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"/>
          <p:cNvSpPr/>
          <p:nvPr/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"/>
          <p:cNvSpPr txBox="1"/>
          <p:nvPr>
            <p:ph idx="1" type="body"/>
          </p:nvPr>
        </p:nvSpPr>
        <p:spPr>
          <a:xfrm>
            <a:off x="371094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s-ES" sz="2400"/>
              <a:t>Factores en la fijación de precios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400"/>
              <a:t>Propuesta de valor añadido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400"/>
              <a:t>Estructura de costos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400"/>
              <a:t>Visión y misión de la empresa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400"/>
              <a:t>Tipo de mercado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ES" sz="2400"/>
              <a:t>Elasticidad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trategias de Marketing Mix para emrpesas" id="512" name="Google Shape;512;p6"/>
          <p:cNvPicPr preferRelativeResize="0"/>
          <p:nvPr/>
        </p:nvPicPr>
        <p:blipFill rotWithShape="1">
          <a:blip r:embed="rId3">
            <a:alphaModFix amt="40000"/>
          </a:blip>
          <a:srcRect b="13604" l="0" r="0" t="30146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"/>
          <p:cNvSpPr txBox="1"/>
          <p:nvPr>
            <p:ph type="title"/>
          </p:nvPr>
        </p:nvSpPr>
        <p:spPr>
          <a:xfrm>
            <a:off x="841249" y="941832"/>
            <a:ext cx="1050645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lang="es-ES" sz="5000"/>
              <a:t>Precio</a:t>
            </a:r>
            <a:endParaRPr/>
          </a:p>
        </p:txBody>
      </p:sp>
      <p:sp>
        <p:nvSpPr>
          <p:cNvPr id="514" name="Google Shape;514;p6"/>
          <p:cNvSpPr/>
          <p:nvPr/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6"/>
          <p:cNvSpPr/>
          <p:nvPr/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"/>
          <p:cNvSpPr txBox="1"/>
          <p:nvPr>
            <p:ph idx="1" type="body"/>
          </p:nvPr>
        </p:nvSpPr>
        <p:spPr>
          <a:xfrm>
            <a:off x="841248" y="3502152"/>
            <a:ext cx="10506456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s-ES" sz="2000" u="sng"/>
              <a:t>Estrategias para la fijación de precios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Mantener una misma línea general para los productos aunque con ciertos detalles para cada uno.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s-ES" sz="2000" u="sng"/>
              <a:t>Cambios en los precios</a:t>
            </a:r>
            <a:endParaRPr b="1"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Llevarlos a cabo si se produce un cambio en los costos o en el mercado.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sz="2000"/>
              <a:t>Tener en cuenta a la competencia.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"/>
          <p:cNvSpPr txBox="1"/>
          <p:nvPr>
            <p:ph type="title"/>
          </p:nvPr>
        </p:nvSpPr>
        <p:spPr>
          <a:xfrm>
            <a:off x="838200" y="448721"/>
            <a:ext cx="4707671" cy="122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</a:pPr>
            <a:r>
              <a:rPr lang="es-ES" sz="3800">
                <a:solidFill>
                  <a:schemeClr val="lt1"/>
                </a:solidFill>
              </a:rPr>
              <a:t>Distribución</a:t>
            </a:r>
            <a:endParaRPr/>
          </a:p>
        </p:txBody>
      </p:sp>
      <p:cxnSp>
        <p:nvCxnSpPr>
          <p:cNvPr id="523" name="Google Shape;523;p7"/>
          <p:cNvCxnSpPr/>
          <p:nvPr/>
        </p:nvCxnSpPr>
        <p:spPr>
          <a:xfrm rot="10800000">
            <a:off x="831873" y="1749756"/>
            <a:ext cx="4718304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4" name="Google Shape;524;p7"/>
          <p:cNvSpPr txBox="1"/>
          <p:nvPr>
            <p:ph idx="1" type="body"/>
          </p:nvPr>
        </p:nvSpPr>
        <p:spPr>
          <a:xfrm>
            <a:off x="897769" y="1909192"/>
            <a:ext cx="4586513" cy="3647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41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s-ES" sz="1700">
                <a:solidFill>
                  <a:schemeClr val="lt1"/>
                </a:solidFill>
              </a:rPr>
              <a:t>Dos tipos de distribución: la propia por vía telefónica o en local y mediante intermediarios como Just Eat o Uber Eats.</a:t>
            </a:r>
            <a:endParaRPr sz="1700">
              <a:solidFill>
                <a:schemeClr val="lt1"/>
              </a:solidFill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s-ES" sz="1700">
                <a:solidFill>
                  <a:schemeClr val="lt1"/>
                </a:solidFill>
              </a:rPr>
              <a:t>Existencia de un canal inverso para la comunicación de incidencias y posible devolución.</a:t>
            </a:r>
            <a:endParaRPr sz="1700">
              <a:solidFill>
                <a:schemeClr val="lt1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5" name="Google Shape;525;p7"/>
          <p:cNvCxnSpPr/>
          <p:nvPr/>
        </p:nvCxnSpPr>
        <p:spPr>
          <a:xfrm rot="10800000">
            <a:off x="834027" y="5707672"/>
            <a:ext cx="4713997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onoces los canales de distribución adecuados para tu pyme? - Impulsa  Popular | Banco Popular Dominicano :Impulsa Popular | Banco Popular  Dominicano" id="526" name="Google Shape;5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050" y="1389043"/>
            <a:ext cx="5666547" cy="407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0451" y="3405025"/>
            <a:ext cx="3881148" cy="21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8"/>
          <p:cNvPicPr preferRelativeResize="0"/>
          <p:nvPr/>
        </p:nvPicPr>
        <p:blipFill rotWithShape="1">
          <a:blip r:embed="rId3">
            <a:alphaModFix amt="40000"/>
          </a:blip>
          <a:srcRect b="-1" l="8556" r="10109" t="0"/>
          <a:stretch/>
        </p:blipFill>
        <p:spPr>
          <a:xfrm>
            <a:off x="20" y="10"/>
            <a:ext cx="12191978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8"/>
          <p:cNvSpPr txBox="1"/>
          <p:nvPr>
            <p:ph type="title"/>
          </p:nvPr>
        </p:nvSpPr>
        <p:spPr>
          <a:xfrm>
            <a:off x="841249" y="-464668"/>
            <a:ext cx="10506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lang="es-ES" sz="5000"/>
              <a:t>Distribución</a:t>
            </a:r>
            <a:endParaRPr/>
          </a:p>
        </p:txBody>
      </p:sp>
      <p:sp>
        <p:nvSpPr>
          <p:cNvPr id="535" name="Google Shape;535;p8"/>
          <p:cNvSpPr/>
          <p:nvPr/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841323" y="1690952"/>
            <a:ext cx="10506600" cy="1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8"/>
          <p:cNvSpPr txBox="1"/>
          <p:nvPr>
            <p:ph idx="1" type="body"/>
          </p:nvPr>
        </p:nvSpPr>
        <p:spPr>
          <a:xfrm>
            <a:off x="841250" y="2280424"/>
            <a:ext cx="10506600" cy="4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s-ES" sz="2000"/>
              <a:t>Tipo de sistema comercial: Sistema horizontal de distribución.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s-ES" sz="2000"/>
              <a:t>Dos tipos de métodos de distribución en función de las decisiones básicas del canal de distribución:</a:t>
            </a:r>
            <a:endParaRPr sz="20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lang="es-ES" sz="2000"/>
              <a:t>Diseño de nivel 0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lang="es-ES" sz="2000"/>
              <a:t>Diseño de nivel 1 con estrategia de distribución intensiva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/>
              <a:t>Respecto al almacenamiento todo el inventario se almacena en el local y en los pedidos que es necesario transporte se realiza mediante motoristas (de la propia empresa o del intermediario) habilitados con maletines especializados en el transporte de alimentos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municación y marketing, claves en la estrategia de negocio de las  empresas - Leticia de la Herrán - Marketing Directo" id="543" name="Google Shape;543;p9"/>
          <p:cNvPicPr preferRelativeResize="0"/>
          <p:nvPr/>
        </p:nvPicPr>
        <p:blipFill rotWithShape="1">
          <a:blip r:embed="rId3">
            <a:alphaModFix amt="35000"/>
          </a:blip>
          <a:srcRect b="15094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s-ES">
                <a:solidFill>
                  <a:srgbClr val="FFFFFF"/>
                </a:solidFill>
              </a:rPr>
              <a:t>Comunicación</a:t>
            </a:r>
            <a:endParaRPr/>
          </a:p>
        </p:txBody>
      </p:sp>
      <p:sp>
        <p:nvSpPr>
          <p:cNvPr id="545" name="Google Shape;54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Char char="•"/>
            </a:pPr>
            <a:r>
              <a:rPr lang="es-ES">
                <a:solidFill>
                  <a:srgbClr val="FFFFFF"/>
                </a:solidFill>
              </a:rPr>
              <a:t>Objetivo de la comunicación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s-ES">
                <a:solidFill>
                  <a:srgbClr val="FFFFFF"/>
                </a:solidFill>
              </a:rPr>
              <a:t>Transmitir la calidad superior de sus productos y la experiencia única que ofrecen a sus clientes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Char char="•"/>
            </a:pPr>
            <a:r>
              <a:rPr lang="es-ES">
                <a:solidFill>
                  <a:srgbClr val="FFFFFF"/>
                </a:solidFill>
              </a:rPr>
              <a:t>Mensaje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s-ES">
                <a:solidFill>
                  <a:srgbClr val="FFFFFF"/>
                </a:solidFill>
              </a:rPr>
              <a:t>Ofrecen una pizza de alta calidad con ingredientes frescos y una experiencia de servicio al cliente excepcional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ómo se relacionan Marketing y Comunicación?" id="551" name="Google Shape;551;p10"/>
          <p:cNvPicPr preferRelativeResize="0"/>
          <p:nvPr/>
        </p:nvPicPr>
        <p:blipFill rotWithShape="1">
          <a:blip r:embed="rId3">
            <a:alphaModFix/>
          </a:blip>
          <a:srcRect b="567" l="23298" r="0" t="8523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0"/>
          <p:cNvSpPr/>
          <p:nvPr/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9000">
                <a:srgbClr val="000000">
                  <a:alpha val="40000"/>
                </a:srgbClr>
              </a:gs>
              <a:gs pos="35000">
                <a:srgbClr val="000000">
                  <a:alpha val="75686"/>
                </a:srgbClr>
              </a:gs>
              <a:gs pos="52999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8395868" y="1161288"/>
            <a:ext cx="3438144" cy="112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s-ES" sz="2800"/>
              <a:t>Comunicación</a:t>
            </a:r>
            <a:endParaRPr/>
          </a:p>
        </p:txBody>
      </p:sp>
      <p:sp>
        <p:nvSpPr>
          <p:cNvPr id="554" name="Google Shape;554;p10"/>
          <p:cNvSpPr/>
          <p:nvPr/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8453018" y="2443480"/>
            <a:ext cx="3218688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0"/>
          <p:cNvSpPr txBox="1"/>
          <p:nvPr>
            <p:ph idx="1" type="body"/>
          </p:nvPr>
        </p:nvSpPr>
        <p:spPr>
          <a:xfrm>
            <a:off x="8395868" y="2718054"/>
            <a:ext cx="3438906" cy="3207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s-ES" sz="1700"/>
              <a:t>Target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s-ES" sz="1700"/>
              <a:t>Se centran en atraer a los amantes de la pizza que valoran la calidad y la autenticidad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s-ES" sz="1700"/>
              <a:t>Medios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s-ES" sz="1700"/>
              <a:t>Estrategia de comunicación centrada en promociones y ofertas especiales para atraer y retener a los clientes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t/>
            </a:r>
            <a:endParaRPr sz="1700"/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2023-05-29T06:47:36Z</dcterms:created>
  <dc:creator>ALEJANDRO NIETO RUZEK</dc:creator>
</cp:coreProperties>
</file>